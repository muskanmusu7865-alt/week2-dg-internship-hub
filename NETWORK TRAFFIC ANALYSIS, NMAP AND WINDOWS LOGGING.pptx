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548640"/>
            <a:ext cx="2011680" cy="2011680"/>
          </a:xfrm>
          <a:prstGeom prst="ellipse">
            <a:avLst/>
          </a:prstGeom>
          <a:solidFill>
            <a:srgbClr val="19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1554480"/>
            <a:ext cx="1051560" cy="1051560"/>
          </a:xfrm>
          <a:prstGeom prst="ellipse">
            <a:avLst/>
          </a:prstGeom>
          <a:solidFill>
            <a:srgbClr val="1E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2377440"/>
            <a:ext cx="594360" cy="594360"/>
          </a:xfrm>
          <a:prstGeom prst="ellipse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77724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8D2BE"/>
                </a:solidFill>
                <a:latin typeface="Aptos"/>
              </a:defRPr>
            </a:pPr>
            <a:r>
              <a:t>CYBERSECURITY INTERNSHIP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8412480" cy="23774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NETWORK TRAFFIC</a:t>
            </a:r>
          </a:p>
          <a:p>
            <a:pPr>
              <a:spcAft>
                <a:spcPts val="7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ANALYSIS, NMAP &amp;</a:t>
            </a:r>
          </a:p>
          <a:p>
            <a:pPr>
              <a:spcAft>
                <a:spcPts val="7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WINDOWS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13632"/>
            <a:ext cx="68580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B8C7DA"/>
                </a:solidFill>
                <a:latin typeface="Aptos"/>
              </a:defRPr>
            </a:pPr>
            <a:r>
              <a:t>Weekly Learning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617720"/>
            <a:ext cx="914400" cy="54864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6217920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Aayat Ansari  •  CSE – Cybersecurity</a:t>
            </a:r>
          </a:p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Intern ID: DG/15/OCT/CYBER/066</a:t>
            </a:r>
          </a:p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30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6080760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8C7DA"/>
                </a:solidFill>
                <a:latin typeface="Aptos"/>
              </a:defRPr>
            </a:pPr>
            <a:r>
              <a:t>NETWORK DEFENSE  /  TRAFFIC VISIBILITY  /  EVENT INVESTIGATION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Week 2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8C7DA"/>
                </a:solidFill>
                <a:latin typeface="Aptos"/>
              </a:defRPr>
            </a:pPr>
            <a:r>
              <a:t>Core skills explored across network monitoring and Windows endpoint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8C7DA"/>
                </a:solidFill>
                <a:latin typeface="Aptos"/>
              </a:defRPr>
            </a:pPr>
            <a:r>
              <a:t>WEEK 2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47672"/>
            <a:ext cx="54864" cy="1499616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D2BE"/>
                </a:solidFill>
                <a:latin typeface="Aptos"/>
              </a:defRPr>
            </a:pPr>
            <a:r>
              <a:t>01  NETWORK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04872"/>
            <a:ext cx="3136392" cy="10789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Understand TCP handshakes, connection teardown, protocol behaviour, and suspicious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47672"/>
            <a:ext cx="54864" cy="149961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02  NMAP RECON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04872"/>
            <a:ext cx="3136392" cy="10789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Discover live hosts, inspect port states, and identify services on authorised lab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52044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47672"/>
            <a:ext cx="54864" cy="1499616"/>
          </a:xfrm>
          <a:prstGeom prst="rect">
            <a:avLst/>
          </a:prstGeom>
          <a:solidFill>
            <a:srgbClr val="73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3AEFF"/>
                </a:solidFill>
                <a:latin typeface="Aptos"/>
              </a:defRPr>
            </a:pPr>
            <a:r>
              <a:t>03  WINDOWS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04872"/>
            <a:ext cx="3136392" cy="10789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Review processes, services, accounts, UAC, Event Viewer, and important Security Event IDs.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160520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8D2BE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72000"/>
            <a:ext cx="10698480" cy="1417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Isolate packets with Wireshark display filters</a:t>
            </a:r>
          </a:p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Interpret scan responses carefully</a:t>
            </a:r>
          </a:p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Recognise logon, privilege, account and audit events</a:t>
            </a:r>
          </a:p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Use baselines to separate expected activity from anomalies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TCP Fundamentals &amp; Protocol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8C7DA"/>
                </a:solidFill>
                <a:latin typeface="Aptos"/>
              </a:defRPr>
            </a:pPr>
            <a:r>
              <a:t>Look for context and patterns—not just one packet or alert.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8C7DA"/>
                </a:solidFill>
                <a:latin typeface="Aptos"/>
              </a:defRPr>
            </a:pPr>
            <a:r>
              <a:t>WEEK 2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160020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56232"/>
            <a:ext cx="54864" cy="1271016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491947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D2BE"/>
                </a:solidFill>
                <a:latin typeface="Aptos"/>
              </a:defRPr>
            </a:pPr>
            <a:r>
              <a:t>TCP CONNECTION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4919472" cy="8503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SYN  →  SYN-ACK  →  ACK</a:t>
            </a:r>
          </a:p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A typical three-way handshake establishes a 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160020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56232"/>
            <a:ext cx="54864" cy="127101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91947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CONNECTION CLOSE /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13432"/>
            <a:ext cx="4919472" cy="8503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FIN/ACK exchanges commonly close orderly sessions. RST resets or rejects a connection.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15544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8D2BE"/>
                </a:solidFill>
                <a:latin typeface="Aptos"/>
              </a:defRPr>
            </a:pPr>
            <a:r>
              <a:t>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576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8D2BE"/>
                </a:solidFill>
                <a:latin typeface="Aptos"/>
              </a:defRPr>
            </a:pPr>
            <a:r>
              <a:t>NORMAL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BE55"/>
                </a:solidFill>
                <a:latin typeface="Aptos"/>
              </a:defRPr>
            </a:pPr>
            <a:r>
              <a:t>PATTERNS TO 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1508760" cy="3931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DNS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41648"/>
            <a:ext cx="34290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Expected domain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41648"/>
            <a:ext cx="48006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Unusual volume, repeated queries, unexpected DNS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1508760" cy="3931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HTTP / TLS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572000"/>
            <a:ext cx="34290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Web requests; encrypted TLS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48006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Suspicious destinations, odd methods, certificate anomalies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1508760" cy="3931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ARP / ICMP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02352"/>
            <a:ext cx="34290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IP-to-MAC resolution; ping and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02352"/>
            <a:ext cx="48006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Duplicate ARP mappings, sweeps, high-volume probes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32704"/>
            <a:ext cx="1508760" cy="3931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SMB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632704"/>
            <a:ext cx="34290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Authorised file/printer sharing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632704"/>
            <a:ext cx="48006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Unexpected connections, lateral movement, repeated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Wireshark: Filtering Network Traffic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8C7DA"/>
                </a:solidFill>
                <a:latin typeface="Aptos"/>
              </a:defRPr>
            </a:pPr>
            <a:r>
              <a:t>Display filters help focus analysis after packets are captured or opened.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8C7DA"/>
                </a:solidFill>
                <a:latin typeface="Aptos"/>
              </a:defRPr>
            </a:pPr>
            <a:r>
              <a:t>WEEK 2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57800" cy="361188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10512"/>
            <a:ext cx="54864" cy="3282696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2"/>
            <a:ext cx="487375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D2BE"/>
                </a:solidFill>
                <a:latin typeface="Aptos"/>
              </a:defRPr>
            </a:pPr>
            <a:r>
              <a:t>PROTOCOL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4873752" cy="2862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tcp     — TCP packets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udp     — UDP packets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icmp    — ping and ICMP errors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arp     — ARP requests/replies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dns     — DNS queries/responses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http    — HTTP traffic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tls     — TLS handshakes/metadata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257800" cy="361188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810512"/>
            <a:ext cx="54864" cy="328269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487375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TARGETED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67712"/>
            <a:ext cx="4873752" cy="2862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tcp.port == 443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ip.addr == 192.168.1.10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tcp.flags.syn == 1 &amp;&amp; tcp.flags.ack == 0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tcp.flags.reset == 1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dns.flags.response == 0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http.request.method == "GET"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tcp.analysis.retransmission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7DA"/>
                </a:solidFill>
                <a:latin typeface="Aptos"/>
              </a:defRPr>
            </a:pPr>
            <a:r>
              <a:t>Tip: Capture filters use different syntax (for example: host 192.168.1.10, port 53, or tcp port 443).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Nmap: Host Discovery &amp; Port Scanning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8C7DA"/>
                </a:solidFill>
                <a:latin typeface="Aptos"/>
              </a:defRPr>
            </a:pPr>
            <a:r>
              <a:t>Use only on systems and networks where you have explicit permission.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8C7DA"/>
                </a:solidFill>
                <a:latin typeface="Aptos"/>
              </a:defRPr>
            </a:pPr>
            <a:r>
              <a:t>WEEK 2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5257800" cy="123444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905256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7375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D2BE"/>
                </a:solidFill>
                <a:latin typeface="Aptos"/>
              </a:defRPr>
            </a:pPr>
            <a:r>
              <a:t>HOST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86000"/>
            <a:ext cx="487375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nmap -sn &lt;target-or-subnet&gt;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Find active hosts without a standard port scan.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64208"/>
            <a:ext cx="5257800" cy="123444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828800"/>
            <a:ext cx="54864" cy="90525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7375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TCP SCANS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487375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nmap -sS &lt;target-IP&gt;   |   nmap -sT &lt;target-IP&gt;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SYN scan vs. full TCP connect scan.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127248"/>
            <a:ext cx="5257800" cy="123444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291840"/>
            <a:ext cx="54864" cy="905256"/>
          </a:xfrm>
          <a:prstGeom prst="rect">
            <a:avLst/>
          </a:prstGeom>
          <a:solidFill>
            <a:srgbClr val="73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291840"/>
            <a:ext cx="487375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3AEFF"/>
                </a:solidFill>
                <a:latin typeface="Aptos"/>
              </a:defRPr>
            </a:pPr>
            <a:r>
              <a:t>SERVICE &amp; OS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749039"/>
            <a:ext cx="487375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nmap -sV &lt;target-IP&gt;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nmap -O &lt;target-IP&gt;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127248"/>
            <a:ext cx="5257800" cy="123444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291840"/>
            <a:ext cx="54864" cy="90525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487375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UDP / AGGRESSIVE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487375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nmap -sU &lt;target-IP&gt;   |   nmap -A &lt;target-IP&gt;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-A enables multiple detection features and is noisier.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D2BE"/>
                </a:solidFill>
                <a:latin typeface="Aptos"/>
              </a:defRPr>
            </a:pPr>
            <a:r>
              <a:t>Common response clues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166360"/>
            <a:ext cx="1069848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SYN-ACK → commonly open     •     RST → commonly closed     •     No response may be filtered / open|filtered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897880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8C7DA"/>
                </a:solidFill>
                <a:latin typeface="Aptos"/>
              </a:defRPr>
            </a:pPr>
            <a:r>
              <a:t>Record scope, time, command and actual result; firewalls and network conditions affect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Windows Fundamentals &amp; Event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8C7DA"/>
                </a:solidFill>
                <a:latin typeface="Aptos"/>
              </a:defRPr>
            </a:pPr>
            <a:r>
              <a:t>Endpoint context helps analysts understand what happened, when, and under which account.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8C7DA"/>
                </a:solidFill>
                <a:latin typeface="Aptos"/>
              </a:defRPr>
            </a:pPr>
            <a:r>
              <a:t>WEEK 2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520440" cy="333756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54864" cy="3008376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5623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D2BE"/>
                </a:solidFill>
                <a:latin typeface="Aptos"/>
              </a:defRPr>
            </a:pPr>
            <a:r>
              <a:t>SYSTEM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13432"/>
            <a:ext cx="3136392" cy="2587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Processes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Running apps and tasks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Services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Background components; possible persistence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Registry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Configuration and startup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333756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56232"/>
            <a:ext cx="54864" cy="300837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IDENTITY &amp;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13432"/>
            <a:ext cx="3136392" cy="2587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Users / groups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Accounts and assigned permissions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UAC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Approval for elevated actions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Review unexpected accounts, privileges, or elevation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91640"/>
            <a:ext cx="3520440" cy="333756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856232"/>
            <a:ext cx="54864" cy="3008376"/>
          </a:xfrm>
          <a:prstGeom prst="rect">
            <a:avLst/>
          </a:prstGeom>
          <a:solidFill>
            <a:srgbClr val="73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5623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3AEFF"/>
                </a:solidFill>
                <a:latin typeface="Aptos"/>
              </a:defRPr>
            </a:pPr>
            <a:r>
              <a:t>EVENT VIEWER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13432"/>
            <a:ext cx="3136392" cy="2587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Security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Logons, account changes, privileges and auditing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System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OS and service events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Application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Application events and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8C7DA"/>
                </a:solidFill>
                <a:latin typeface="Aptos"/>
              </a:defRPr>
            </a:pPr>
            <a:r>
              <a:t>Event availability depends on audit policy, Windows version, retention, and the system generating the event.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Important Security Event IDs &amp; Baselining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8C7DA"/>
                </a:solidFill>
                <a:latin typeface="Aptos"/>
              </a:defRPr>
            </a:pPr>
            <a:r>
              <a:t>Correlate event details with the account, source, timestamp, target and business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8C7DA"/>
                </a:solidFill>
                <a:latin typeface="Aptos"/>
              </a:defRPr>
            </a:pPr>
            <a:r>
              <a:t>WEEK 2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5257800" cy="361188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3282696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7375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D2BE"/>
                </a:solidFill>
                <a:latin typeface="Aptos"/>
              </a:defRPr>
            </a:pPr>
            <a:r>
              <a:t>EVENT IDs TO RECOGNISE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86000"/>
            <a:ext cx="4873752" cy="2862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4624 — Successful logon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4625 — Failed logon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4688 — New process created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4720 — User account created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4732 — Added to a security-enabled local group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4768 / 4769 — Kerberos ticket activity</a:t>
            </a:r>
          </a:p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1102 — Security audit log cleared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64208"/>
            <a:ext cx="5257800" cy="361188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828800"/>
            <a:ext cx="54864" cy="328269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7375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WHAT IS A BASELINE?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4873752" cy="2862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A documented picture of normal activity for users, systems and networks.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Track expected hosts, ports, DNS destinations, login times, services, processes and event volumes.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Investigate meaningful deviations; a deviation is a lead, not proof of an attack.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8D2BE"/>
                </a:solidFill>
                <a:latin typeface="Aptos"/>
              </a:defRPr>
            </a:pPr>
            <a:r>
              <a:t>SOC value: reduce false positives, prioritise unusual activity, and support evidence-based incident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Key Takeaways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8C7DA"/>
                </a:solidFill>
                <a:latin typeface="Aptos"/>
              </a:defRPr>
            </a:pPr>
            <a:r>
              <a:t>Week 2 connected network visibility with endpoint event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8C7DA"/>
                </a:solidFill>
                <a:latin typeface="Aptos"/>
              </a:defRPr>
            </a:pPr>
            <a:r>
              <a:t>WEEK 2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520440" cy="205740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01952"/>
            <a:ext cx="54864" cy="1728216"/>
          </a:xfrm>
          <a:prstGeom prst="rect">
            <a:avLst/>
          </a:prstGeom>
          <a:solidFill>
            <a:srgbClr val="2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0195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D2BE"/>
                </a:solidFill>
                <a:latin typeface="Aptos"/>
              </a:defRPr>
            </a:pPr>
            <a:r>
              <a:t>TRAFFIC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59152"/>
            <a:ext cx="3136392" cy="1307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TCP flags and protocol patterns help explain normal communication and identify anomalies.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205740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01952"/>
            <a:ext cx="54864" cy="172821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0195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RECONNAISSANCE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59152"/>
            <a:ext cx="3136392" cy="1307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Nmap helps inventory live hosts, exposed ports, and services in authorised assessments.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520440" cy="2057400"/>
          </a:xfrm>
          <a:prstGeom prst="roundRect">
            <a:avLst/>
          </a:prstGeom>
          <a:solidFill>
            <a:srgbClr val="192C48"/>
          </a:solidFill>
          <a:ln>
            <a:solidFill>
              <a:srgbClr val="31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901952"/>
            <a:ext cx="54864" cy="1728216"/>
          </a:xfrm>
          <a:prstGeom prst="rect">
            <a:avLst/>
          </a:prstGeom>
          <a:solidFill>
            <a:srgbClr val="73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01952"/>
            <a:ext cx="313639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3AEFF"/>
                </a:solidFill>
                <a:latin typeface="Aptos"/>
              </a:defRPr>
            </a:pPr>
            <a:r>
              <a:t>WINDOWS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59152"/>
            <a:ext cx="3136392" cy="1307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Security logs reveal authentication, privilege use, process creation and account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8D2BE"/>
                </a:solidFill>
                <a:latin typeface="Aptos"/>
              </a:defRPr>
            </a:pPr>
            <a:r>
              <a:t>Practical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698480" cy="1325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Wireshark: TCP, HTTP, ICMP and DNS traffic analysis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Nmap: host discovery, port scans and service detection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Windows: Event Viewer and Security Event IDs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TryHackMe rooms listed in the report: Nmap Live Host Discovery, Nmap Basic Port Scans, Windows Basics, Windows Fundamentals 1 and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626364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1800" b="1">
                <a:solidFill>
                  <a:srgbClr val="28D2BE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